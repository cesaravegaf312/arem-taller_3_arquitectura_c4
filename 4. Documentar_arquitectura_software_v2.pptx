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417320"/>
            <a:ext cx="3200400" cy="4023360"/>
          </a:xfrm>
          <a:prstGeom prst="roundRect">
            <a:avLst>
              <a:gd name="adj" fmla="val 1714"/>
            </a:avLst>
          </a:prstGeom>
          <a:solidFill>
            <a:srgbClr val="1D4A6B"/>
          </a:solidFill>
          <a:ln w="12700">
            <a:solidFill>
              <a:srgbClr val="45B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33688" y="1874520"/>
            <a:ext cx="2432304" cy="3108960"/>
          </a:xfrm>
          <a:prstGeom prst="roundRect">
            <a:avLst>
              <a:gd name="adj" fmla="val 2256"/>
            </a:avLst>
          </a:prstGeom>
          <a:solidFill>
            <a:srgbClr val="245F78"/>
          </a:solidFill>
          <a:ln w="12700">
            <a:solidFill>
              <a:srgbClr val="45B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17736" y="2331720"/>
            <a:ext cx="1664208" cy="2194560"/>
          </a:xfrm>
          <a:prstGeom prst="roundRect">
            <a:avLst>
              <a:gd name="adj" fmla="val 3297"/>
            </a:avLst>
          </a:prstGeom>
          <a:solidFill>
            <a:srgbClr val="2C7A85"/>
          </a:solidFill>
          <a:ln w="12700">
            <a:solidFill>
              <a:srgbClr val="45B7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01784" y="2788920"/>
            <a:ext cx="896112" cy="1280160"/>
          </a:xfrm>
          <a:prstGeom prst="roundRect">
            <a:avLst>
              <a:gd name="adj" fmla="val 6122"/>
            </a:avLst>
          </a:prstGeom>
          <a:solidFill>
            <a:srgbClr val="0E7C7B"/>
          </a:solidFill>
          <a:ln w="12700">
            <a:solidFill>
              <a:srgbClr val="45B7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4964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33688" y="19659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317736" y="24231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701784" y="288036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00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Empresarial · AREM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574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la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software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31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·  Vista 4+1 y Modelo C4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708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 del curso: Clínica Salud Viva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César Augusto Vega Fernández  ·  Facultad de Ingeniería  ·  Universidad de La Sabana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módulo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cada equipo debe poder documentar el sistema de su cliente en dos niveles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81912"/>
            <a:ext cx="6949440" cy="932688"/>
          </a:xfrm>
          <a:prstGeom prst="roundRect">
            <a:avLst>
              <a:gd name="adj" fmla="val 784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73936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773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7335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659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una arquitectura sin documentar le cuesta dinero y tiempo a la organización.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60904"/>
            <a:ext cx="6949440" cy="932688"/>
          </a:xfrm>
          <a:prstGeom prst="roundRect">
            <a:avLst>
              <a:gd name="adj" fmla="val 784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852928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7523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con 4+1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0449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las cinco vistas de Kruchten y qué pregunta responde cada una.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39896"/>
            <a:ext cx="6949440" cy="932688"/>
          </a:xfrm>
          <a:prstGeom prst="roundRect">
            <a:avLst>
              <a:gd name="adj" fmla="val 784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93192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931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313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con C4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1239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los diagramas de Contexto y Contenedores de un sistema real.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18888"/>
            <a:ext cx="6949440" cy="932688"/>
          </a:xfrm>
          <a:prstGeom prst="roundRect">
            <a:avLst>
              <a:gd name="adj" fmla="val 784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010912"/>
            <a:ext cx="512064" cy="512064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5010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10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20293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enfoque adecuado según la audiencia y el momento del proyecto.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1581912"/>
            <a:ext cx="3520440" cy="4315968"/>
          </a:xfrm>
          <a:prstGeom prst="roundRect">
            <a:avLst>
              <a:gd name="adj" fmla="val 2078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0" y="1874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del Taller 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28600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repositorio del equipo: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c1-contexto-final.drawio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c2-contenedores-final.drawio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informe.md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decisiones.md · mínimo 3 decisiones, glosario y supuestos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referencias.md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de no documentar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real de la Clínica Salud Viva antes de intervenir su arquitectura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Clínica Salud Viva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consulta externa y laboratorio. Su sistema creció durante ocho años a punta de urgencias: primero el agendamiento, luego la historia clínica, después la facturación a EPS. Nadie dibujó nunca cómo se conecta todo.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42032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sabe cómo funciona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integración con la EPS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542032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265176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52044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para que 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nuevo sea útil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542032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0" y="265176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B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352044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actualizados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momento de la auditoría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FBF3E7"/>
          </a:solidFill>
          <a:ln w="12700">
            <a:solidFill>
              <a:srgbClr val="C97B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pasó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98348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migrar el servidor de base de datos, nadie sabía que el módulo de facturación leía directamente de la tabla de citas sin pasar por la API. La facturación a EPS estuvo caída once días. La arquitectura existía: simplemente vivía en la cabeza de una sola persona.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qué sirve documentar la arquitectura?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usos concretos, no cuatro razones abstractas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93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591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lenguaje común entre el médico que pide, el analista que traduce y el desarrollador que construye.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063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Viva: explicarle al jefe de laboratorio por qué sus resultados tardan.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1965960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1993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gente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3591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desarrollador nuevo entiende el sistema en un día, no en dos meses.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063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Viva: reducir las 7 semanas de inducción a 1.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33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5994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impacto de un cambio antes de hacerlo, no después.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Viva: ¿qué se rompe si cambiamos la base de datos?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38862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4206240"/>
            <a:ext cx="566928" cy="566928"/>
          </a:xfrm>
          <a:prstGeom prst="ellipse">
            <a:avLst/>
          </a:prstGeom>
          <a:solidFill>
            <a:srgbClr val="1B3A6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4233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45994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ante auditoría dónde viven y por dónde circulan los datos sensibles.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Viva: Ley 1581 sobre historia clínica.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vista no es un diagrama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confusión más común del módulo, y la que más puntos cuesta en la sustentación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94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perspectiva del sistema pensada para una audiencia y una preocupación específica.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«¿Cómo se despliega el sistema?»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239512" cy="1828800"/>
          </a:xfrm>
          <a:prstGeom prst="roundRect">
            <a:avLst>
              <a:gd name="adj" fmla="val 400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artefacto concreto que representa esa vista. Una vista puede necesitar varios.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B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«Diagrama de despliegue de los 3 servidores»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947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Salud Viva — la Vista Física necesita tres diagramas distintos: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24528"/>
            <a:ext cx="35021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B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2452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sede principal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4224528"/>
            <a:ext cx="35021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B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422452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las 2 sedes satélite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4224528"/>
            <a:ext cx="35021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B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422452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VPN con el laboratorio externo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34924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para la entrega:  </a:t>
            </a:r>
            <a:pPr indent="0" marL="0">
              <a:buNone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decidan a quién le van a hablar y qué le preocupa. El diagrama sale de ahí, nunca al revés.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4+1: cuatro vistas y un pegamento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Philippe Kruchten, 1995 — cada vista responde a un interesado distinto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6916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Lógica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258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el sistema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862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final / analista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35240" y="16916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863840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Desarrollo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258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organizado el código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862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39776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188720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Proceso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544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comporta en ejecución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148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 / rendimiento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39776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63840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Física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544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corre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5148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/ operación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697480"/>
            <a:ext cx="2423160" cy="1965960"/>
          </a:xfrm>
          <a:prstGeom prst="roundRect">
            <a:avLst>
              <a:gd name="adj" fmla="val 4651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92040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B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456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794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B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que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B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atraviesan y validan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B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otras cuatro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26280" y="2542032"/>
            <a:ext cx="502920" cy="475488"/>
          </a:xfrm>
          <a:prstGeom prst="line">
            <a:avLst/>
          </a:prstGeom>
          <a:noFill/>
          <a:ln w="15875">
            <a:solidFill>
              <a:srgbClr val="45B7A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7178040" y="2542032"/>
            <a:ext cx="502920" cy="475488"/>
          </a:xfrm>
          <a:prstGeom prst="line">
            <a:avLst/>
          </a:prstGeom>
          <a:noFill/>
          <a:ln w="15875">
            <a:solidFill>
              <a:srgbClr val="45B7A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4526280" y="4343400"/>
            <a:ext cx="502920" cy="484632"/>
          </a:xfrm>
          <a:prstGeom prst="line">
            <a:avLst/>
          </a:prstGeom>
          <a:noFill/>
          <a:ln w="15875">
            <a:solidFill>
              <a:srgbClr val="45B7A8"/>
            </a:solidFill>
            <a:prstDash val="solid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7178040" y="4343400"/>
            <a:ext cx="502920" cy="484632"/>
          </a:xfrm>
          <a:prstGeom prst="line">
            <a:avLst/>
          </a:prstGeom>
          <a:noFill/>
          <a:ln w="15875">
            <a:solidFill>
              <a:srgbClr val="45B7A8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640080" y="587044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beneficio real de 4+1: cada interesado encuentra su vista y no tiene que leer las otras cuatro.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4+1 aplicada a la Clínica Salud Viva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caso que modelamos en el Módulo 3, ahora visto desde la arquitectura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15727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que responde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572768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 concreto en Salud Viva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12264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11226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196596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entidades y reglas maneja la clínica?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965960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con Paciente, Cita, Orden y Resultado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25496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97180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7180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2825496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está organizado el código?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825496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módulos: agenda, HCE, laboratorio, facturación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831336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83133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3685032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cuando 200 pacientes agendan a la vez?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685032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secuencia del agendamiento en hora pico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544568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690872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69087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4544568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corre y cómo se conecta al laboratorio?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544568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despliegue: servidor de sede + VPN al laboratorio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404104"/>
            <a:ext cx="10911535" cy="804672"/>
          </a:xfrm>
          <a:prstGeom prst="roundRect">
            <a:avLst>
              <a:gd name="adj" fmla="val 90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550408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C97B26"/>
          </a:solidFill>
          <a:ln w="12700">
            <a:solidFill>
              <a:srgbClr val="C97B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55040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331720" y="5404104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ve una atención de principio a fin?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540410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paciente agenda, se atiende, se ordena un examen y se factura»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05332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el Módulo 3: el ERD que ya construyeron es la base de la Vista Lógica. No lo repitan, refínenlo.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C4: un zoom, no cuatro dibujos sueltos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Brown — cada nivel está dentro del anterior, como acercarse en un mapa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10543032" cy="4160520"/>
          </a:xfrm>
          <a:prstGeom prst="roundRect">
            <a:avLst>
              <a:gd name="adj" fmla="val 1758"/>
            </a:avLst>
          </a:prstGeom>
          <a:solidFill>
            <a:srgbClr val="E9F2F4"/>
          </a:solidFill>
          <a:ln w="12700">
            <a:solidFill>
              <a:srgbClr val="E9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Contexto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y su entorno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74152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Todos, incluido el cliente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17320" y="2286000"/>
            <a:ext cx="9354312" cy="2880360"/>
          </a:xfrm>
          <a:prstGeom prst="roundRect">
            <a:avLst>
              <a:gd name="adj" fmla="val 2540"/>
            </a:avLst>
          </a:prstGeom>
          <a:solidFill>
            <a:srgbClr val="D3E6E8"/>
          </a:solidFill>
          <a:ln w="12700">
            <a:solidFill>
              <a:srgbClr val="D3E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18488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Contenedores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y bases de datos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79792" y="2395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técnico y arquitectos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11680" y="2926080"/>
            <a:ext cx="8165592" cy="1600200"/>
          </a:xfrm>
          <a:prstGeom prst="roundRect">
            <a:avLst>
              <a:gd name="adj" fmla="val 457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12848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Componentes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dentro de un contenedor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85432" y="3035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 del equipo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3566160"/>
            <a:ext cx="6976872" cy="548640"/>
          </a:xfrm>
          <a:prstGeom prst="roundRect">
            <a:avLst>
              <a:gd name="adj" fmla="val 13333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07208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Código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su estructura interna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91072" y="3675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nunca se dibuja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94360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94360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curso:  </a:t>
            </a:r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niveles 1 y 2 bien hechos ya tienen una documentación útil. El nivel 3 solo para el módulo más crítico del sistema; el nivel 4 no lo pidan nunca.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1 · Diagrama de Contexto — Salud Viva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caja para el sistema; alrededor, quién lo usa y con qué se conecta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2148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que asiste a consulta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2578608"/>
            <a:ext cx="1600200" cy="832104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306324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 que atiende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flipH="1">
            <a:off x="2834640" y="3410712"/>
            <a:ext cx="1600200" cy="36576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393192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2148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 administrativo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 la clínica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flipH="1">
            <a:off x="2834640" y="3410712"/>
            <a:ext cx="1600200" cy="905256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4480560" y="2697480"/>
            <a:ext cx="2926080" cy="1463040"/>
          </a:xfrm>
          <a:prstGeom prst="roundRect">
            <a:avLst>
              <a:gd name="adj" fmla="val 3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480560" y="2697480"/>
            <a:ext cx="29260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Salud Viva</a:t>
            </a:r>
            <a:endParaRPr lang="en-US" sz="14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Agendamiento, historia clínica</a:t>
            </a:r>
            <a:endParaRPr lang="en-US" sz="14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facturación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2560" y="2194560"/>
            <a:ext cx="2496312" cy="731520"/>
          </a:xfrm>
          <a:prstGeom prst="roundRect">
            <a:avLst>
              <a:gd name="adj" fmla="val 75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52560" y="2194560"/>
            <a:ext cx="249631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 y recibe facturación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flipH="1">
            <a:off x="7452360" y="2578608"/>
            <a:ext cx="1554480" cy="832104"/>
          </a:xfrm>
          <a:prstGeom prst="line">
            <a:avLst/>
          </a:prstGeom>
          <a:noFill/>
          <a:ln w="15875">
            <a:solidFill>
              <a:srgbClr val="8FA3AE"/>
            </a:solidFill>
            <a:prstDash val="dash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3063240"/>
            <a:ext cx="2496312" cy="731520"/>
          </a:xfrm>
          <a:prstGeom prst="roundRect">
            <a:avLst>
              <a:gd name="adj" fmla="val 75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052560" y="3063240"/>
            <a:ext cx="249631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externo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exámenes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3410712"/>
            <a:ext cx="1554480" cy="36576"/>
          </a:xfrm>
          <a:prstGeom prst="line">
            <a:avLst/>
          </a:prstGeom>
          <a:noFill/>
          <a:ln w="15875">
            <a:solidFill>
              <a:srgbClr val="8FA3AE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3931920"/>
            <a:ext cx="2496312" cy="731520"/>
          </a:xfrm>
          <a:prstGeom prst="roundRect">
            <a:avLst>
              <a:gd name="adj" fmla="val 7500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052560" y="3931920"/>
            <a:ext cx="249631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</a:t>
            </a:r>
            <a:endParaRPr lang="en-US" sz="11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los copagos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52360" y="3410712"/>
            <a:ext cx="1554480" cy="905256"/>
          </a:xfrm>
          <a:prstGeom prst="line">
            <a:avLst/>
          </a:prstGeom>
          <a:noFill/>
          <a:ln w="15875">
            <a:solidFill>
              <a:srgbClr val="8FA3AE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27248" y="2852928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27248" y="2852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citas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090672" y="3300984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90672" y="3300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la atención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27248" y="3730752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27248" y="3730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agenda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80960" y="2852928"/>
            <a:ext cx="1188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2852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autorización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543800" y="3300984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43800" y="3300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orden · HL7/FHIR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80960" y="3730752"/>
            <a:ext cx="11430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0" y="3730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copago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48920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externos (fuera de nuestro alcance)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892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usan el sistema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" y="54406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0120" y="544068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nivel 1: una sola caja de color para el sistema propio, terceros en gris y toda flecha con su propósito. Aquí todavía no se habla de tecnología.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2 · Diagrama de Contenedores — Salud Viva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Abrimos la caja: qué se despliega por separado y con qué tecnología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572768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977640" y="1572768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7764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/ Auxiliar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2651760"/>
            <a:ext cx="7470648" cy="3291840"/>
          </a:xfrm>
          <a:prstGeom prst="roundRect">
            <a:avLst>
              <a:gd name="adj" fmla="val 1667"/>
            </a:avLst>
          </a:prstGeom>
          <a:solidFill>
            <a:srgbClr val="FAFCFC"/>
          </a:solidFill>
          <a:ln w="15875">
            <a:solidFill>
              <a:srgbClr val="A9BFC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05840" y="297180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05840" y="2971800"/>
            <a:ext cx="2011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Paciente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77640" y="297180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977640" y="2971800"/>
            <a:ext cx="2011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Clínica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4206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468880" y="420624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Aplicación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 Boot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42062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B6E86"/>
          </a:solidFill>
          <a:ln w="12700">
            <a:solidFill>
              <a:srgbClr val="1B6E86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23560" y="420624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Integración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HL7/FHIR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0" y="5285232"/>
            <a:ext cx="2011680" cy="548640"/>
          </a:xfrm>
          <a:prstGeom prst="can">
            <a:avLst/>
          </a:prstGeom>
          <a:solidFill>
            <a:srgbClr val="1B3A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51760" y="5285232"/>
            <a:ext cx="20116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Clínica · PostgreSQL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528523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B6E86"/>
          </a:solidFill>
          <a:ln w="12700">
            <a:solidFill>
              <a:srgbClr val="1B6E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5285232"/>
            <a:ext cx="23774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y SMS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2706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Salud Viva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2103120"/>
            <a:ext cx="0" cy="82296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83480" y="2103120"/>
            <a:ext cx="0" cy="82296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94560" y="3822192"/>
            <a:ext cx="914400" cy="338328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4160520" y="3822192"/>
            <a:ext cx="594360" cy="338328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57600" y="5010912"/>
            <a:ext cx="0" cy="237744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73752" y="4590288"/>
            <a:ext cx="704088" cy="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5010912"/>
            <a:ext cx="0" cy="237744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298448" y="2231136"/>
            <a:ext cx="142646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98448" y="223113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citas · HTTPS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70248" y="2231136"/>
            <a:ext cx="142646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70248" y="223113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atención · HTTPS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3822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agenda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JSON/HTTPS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38039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escribe HCE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JSON/HTTPS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919472" y="43159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3822192" y="50292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y consulta · JDBC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50292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aviso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961120" y="411480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0" y="4114800"/>
            <a:ext cx="26060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externo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61120" y="50749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961120" y="5074920"/>
            <a:ext cx="26060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· Pasarela de pagos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 flipH="1">
            <a:off x="8046720" y="4507992"/>
            <a:ext cx="868680" cy="64008"/>
          </a:xfrm>
          <a:prstGeom prst="line">
            <a:avLst/>
          </a:prstGeom>
          <a:noFill/>
          <a:ln w="15875">
            <a:solidFill>
              <a:srgbClr val="8FA3AE"/>
            </a:solidFill>
            <a:prstDash val="dash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8046720" y="4681728"/>
            <a:ext cx="868680" cy="777240"/>
          </a:xfrm>
          <a:prstGeom prst="line">
            <a:avLst/>
          </a:prstGeom>
          <a:noFill/>
          <a:ln w="15875">
            <a:solidFill>
              <a:srgbClr val="8FA3AE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8247888" y="42062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HL7/FHIR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8266176" y="490118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961120" y="1572768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40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cuenta como contenedor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0" y="2084832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se despliega y se ejecuta por separado.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aplicaciones, APIs, bases de datos, colas.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clases, librerías, capas internas.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3 · Componentes — dentro de la API de Salud Viva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dibuja para el contenedor más crítico o más complejo del sistema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1627632"/>
            <a:ext cx="7863840" cy="4023360"/>
          </a:xfrm>
          <a:prstGeom prst="roundRect">
            <a:avLst>
              <a:gd name="adj" fmla="val 1364"/>
            </a:avLst>
          </a:prstGeom>
          <a:solidFill>
            <a:srgbClr val="FAFCFC"/>
          </a:solidFill>
          <a:ln w="15875">
            <a:solidFill>
              <a:srgbClr val="A9BFC7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68680" y="1700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Contenedor: API de Aplicación (Java / Spring Boot)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148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148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de Agenda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los endpoints de citas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57800" y="2148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257800" y="2148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Disponibilidad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cupos por médico y sede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3291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3291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Historia Clínica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y consulta la atención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57800" y="3291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57800" y="3291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Órdenes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órdenes y recibe resultados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4434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4434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 Datos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PostgreSQL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57800" y="4434840"/>
            <a:ext cx="3200400" cy="868680"/>
          </a:xfrm>
          <a:prstGeom prst="roundRect">
            <a:avLst>
              <a:gd name="adj" fmla="val 63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257800" y="4434840"/>
            <a:ext cx="3200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FHIR</a:t>
            </a:r>
            <a:endParaRPr lang="en-US" sz="105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al estándar del laboratorio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2578608"/>
            <a:ext cx="1005840" cy="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06240" y="3721608"/>
            <a:ext cx="1005840" cy="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60320" y="3063240"/>
            <a:ext cx="0" cy="18288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0320" y="4206240"/>
            <a:ext cx="0" cy="18288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4206240"/>
            <a:ext cx="0" cy="182880"/>
          </a:xfrm>
          <a:prstGeom prst="line">
            <a:avLst/>
          </a:prstGeom>
          <a:noFill/>
          <a:ln w="15875">
            <a:solidFill>
              <a:srgbClr val="8FA3AE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114800" y="2286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cupos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34290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orden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30358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41788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178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al laboratorio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006840" y="1627632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89720" y="17830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bajar a nivel 3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2121408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contenedor concentra la complejidad del negocio, o cuando varios equipos van a trabajar dentro de él al mismo tiempo.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06840" y="3703320"/>
            <a:ext cx="2542032" cy="1947672"/>
          </a:xfrm>
          <a:prstGeom prst="roundRect">
            <a:avLst>
              <a:gd name="adj" fmla="val 3756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89720" y="385876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no hacerlo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4187952"/>
            <a:ext cx="2176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van a dibujar los seis contenedores a nivel de componentes, van a mantener seis diagramas que quedarán desactualizados en un mes.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4 · Código — el nivel que casi nadie dibuja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en el modelo, pero rara vez se justifica mantenerlo a mano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mostraría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402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del Gestor de Órdenes y sus relaciones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herencia y dependencias internas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Es, en la práctica, un diagrama UML de clases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la Vista Lógica de 4+1 en su nivel más fino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691640"/>
            <a:ext cx="5102352" cy="3017520"/>
          </a:xfrm>
          <a:prstGeom prst="roundRect">
            <a:avLst>
              <a:gd name="adj" fmla="val 2424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omite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24028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con cada sprint: se desactualiza en días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 ya lo genera automáticamente cuando hace falta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fuera del equipo de desarrollo lo lee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Brown mismo recomienda no dibujarlo salvo excepciones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98348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práctico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44068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Documenten a mano lo que cambia despacio (Contexto, Contenedores) y dejen que las herramientas generen lo que cambia rápido (Código). Esa es la regla que hace sostenible cualquier documentación de arquitectura.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4+1 y C4: cuándo usar cada uno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compiten; responden a preguntas distintas y se pueden combinar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60520" y="1600200"/>
            <a:ext cx="3520440" cy="502920"/>
          </a:xfrm>
          <a:prstGeom prst="roundRect">
            <a:avLst>
              <a:gd name="adj" fmla="val 909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60520" y="1600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4+1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1600200"/>
            <a:ext cx="3520440" cy="502920"/>
          </a:xfrm>
          <a:prstGeom prst="roundRect">
            <a:avLst>
              <a:gd name="adj" fmla="val 9091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0" y="1600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22128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perspectivas en paralelo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2128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niveles de zoom anidados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16352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816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y autor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28163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Kruchten, 1995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8163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Brown, 2011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4198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341985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Libre, usualmente UML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41985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Libre, con reglas de estilo claras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en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251960" y="4023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grandes con muchos interesados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023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rápido un sistema a cualquiera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626864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6268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251960" y="46268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exige manejar UML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6268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Baja: se entiende en una clase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23036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230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típico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251960" y="52303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cinco diagramas sin audiencia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52303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Quedarse solo en el nivel 1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833872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8338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en el curso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251960" y="5833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 de referencia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58338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del entregable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E7"/>
          </a:solidFill>
          <a:ln w="12700">
            <a:solidFill>
              <a:srgbClr val="FBF3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" y="598932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combinarlos:  </a:t>
            </a:r>
            <a:pPr indent="0" marL="0">
              <a:buNone/>
            </a:pPr>
            <a:r>
              <a:rPr lang="en-US" sz="125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 C4 para dibujar y 4+1 para verificar que no se les quedó ninguna preocupación sin cubrir (¿y el despliegue? ¿y la concurrencia?).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termina C4 y dónde empieza la AE?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aparece en toda sustentación del curso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406640" cy="868680"/>
          </a:xfrm>
          <a:prstGeom prst="roundRect">
            <a:avLst>
              <a:gd name="adj" fmla="val 5263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Negocio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6916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Procesos, actores, servicios de la clínica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60904"/>
            <a:ext cx="7406640" cy="868680"/>
          </a:xfrm>
          <a:prstGeom prst="roundRect">
            <a:avLst>
              <a:gd name="adj" fmla="val 5263"/>
            </a:avLst>
          </a:prstGeom>
          <a:solidFill>
            <a:srgbClr val="1B6E86"/>
          </a:solidFill>
          <a:ln w="12700">
            <a:solidFill>
              <a:srgbClr val="1B6E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6090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Aplicación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66090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Viva, nómina, contabilidad, portal web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30168"/>
            <a:ext cx="7406640" cy="868680"/>
          </a:xfrm>
          <a:prstGeom prst="roundRect">
            <a:avLst>
              <a:gd name="adj" fmla="val 526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6301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63016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clínica, facturación, RIPS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99432"/>
            <a:ext cx="7406640" cy="868680"/>
          </a:xfrm>
          <a:prstGeom prst="roundRect">
            <a:avLst>
              <a:gd name="adj" fmla="val 5263"/>
            </a:avLst>
          </a:prstGeom>
          <a:solidFill>
            <a:srgbClr val="45B7A8"/>
          </a:solidFill>
          <a:ln w="12700">
            <a:solidFill>
              <a:srgbClr val="45B7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5994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Tecnología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45994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Servidores, red, nube, VPN al laboratorio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2651760"/>
            <a:ext cx="146304" cy="1956816"/>
          </a:xfrm>
          <a:prstGeom prst="roundRect">
            <a:avLst>
              <a:gd name="adj" fmla="val 31250"/>
            </a:avLst>
          </a:prstGeom>
          <a:solidFill>
            <a:srgbClr val="C97B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C4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sistema, por dentro: sus aplicaciones y sus datos.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1691640"/>
            <a:ext cx="146304" cy="3950208"/>
          </a:xfrm>
          <a:prstGeom prst="roundRect">
            <a:avLst>
              <a:gd name="adj" fmla="val 31250"/>
            </a:avLst>
          </a:prstGeom>
          <a:solidFill>
            <a:srgbClr val="1B3A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5820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la AE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0848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sistemas de la clínica y su relación con la estrategia. Se modela con ArchiMate.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80644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580644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frase:  </a:t>
            </a:r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documenta un sistema. La Arquitectura Empresarial documenta el portafolio de sistemas y su alineación con el negocio.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para dibujar C4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gratuitas o con capa gratuita suficiente para el curso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87752" cy="4023360"/>
          </a:xfrm>
          <a:prstGeom prst="roundRect">
            <a:avLst>
              <a:gd name="adj" fmla="val 282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2587752" cy="685800"/>
          </a:xfrm>
          <a:prstGeom prst="roundRect">
            <a:avLst>
              <a:gd name="adj" fmla="val 666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691640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116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· web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C4 incorporada en Más formas → Software → C4. Sin instalación.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94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Curva: muy baja  ·  Acogida: muy alta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57200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por defecto del Taller 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1645920"/>
            <a:ext cx="2587752" cy="4023360"/>
          </a:xfrm>
          <a:prstGeom prst="roundRect">
            <a:avLst>
              <a:gd name="adj" fmla="val 282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645920"/>
            <a:ext cx="2587752" cy="685800"/>
          </a:xfrm>
          <a:prstGeom prst="roundRect">
            <a:avLst>
              <a:gd name="adj" fmla="val 6667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1691640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Astah UML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0116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académica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5146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aprobada en el enunciado del taller. Útil si ya la usaron en UML.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794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Curva: baja  ·  Acogida: media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457200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Válida para la entrega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2587752" cy="4023360"/>
          </a:xfrm>
          <a:prstGeom prst="roundRect">
            <a:avLst>
              <a:gd name="adj" fmla="val 282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645920"/>
            <a:ext cx="2587752" cy="685800"/>
          </a:xfrm>
          <a:prstGeom prst="roundRect">
            <a:avLst>
              <a:gd name="adj" fmla="val 6667"/>
            </a:avLst>
          </a:prstGeom>
          <a:solidFill>
            <a:srgbClr val="1B6E86"/>
          </a:solidFill>
          <a:ln w="12700">
            <a:solidFill>
              <a:srgbClr val="1B6E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1691640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Structurizr Lite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20116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· Docker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25146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modelo genera los cuatro niveles sin contradicciones entre ellos.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3794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Curva: media  ·  Acogida: alta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457200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Opcional, para quien maneje Docker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06840" y="1645920"/>
            <a:ext cx="2587752" cy="4023360"/>
          </a:xfrm>
          <a:prstGeom prst="roundRect">
            <a:avLst>
              <a:gd name="adj" fmla="val 282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06840" y="1645920"/>
            <a:ext cx="2587752" cy="685800"/>
          </a:xfrm>
          <a:prstGeom prst="roundRect">
            <a:avLst>
              <a:gd name="adj" fmla="val 6667"/>
            </a:avLst>
          </a:prstGeom>
          <a:solidFill>
            <a:srgbClr val="8A99A3"/>
          </a:solidFill>
          <a:ln w="12700">
            <a:solidFill>
              <a:srgbClr val="8A99A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71432" y="1691640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71432" y="201168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· escritorio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171432" y="2514600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 ArchiMate, no de C4. La usaremos en el Módulo 5.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171432" y="379476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Curva: media-alta  ·  Acogida: media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171432" y="457200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 usen para este entregable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cual sea la herramienta, el entregable se evalúa por la claridad del modelo, no por el acabado gráfico.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en clase · 40 minutos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equipos, sobre el sistema del cliente real de su proyecto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7772400" cy="987552"/>
          </a:xfrm>
          <a:prstGeom prst="roundRect">
            <a:avLst>
              <a:gd name="adj" fmla="val 740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65376"/>
            <a:ext cx="914400" cy="566928"/>
          </a:xfrm>
          <a:prstGeom prst="roundRect">
            <a:avLst>
              <a:gd name="adj" fmla="val 806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6537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7922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el entorno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1031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Escriban quién usa el sistema (roles, no nombres) y con qué sistemas externos se conecta.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77724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26080"/>
            <a:ext cx="914400" cy="566928"/>
          </a:xfrm>
          <a:prstGeom prst="roundRect">
            <a:avLst>
              <a:gd name="adj" fmla="val 806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26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8529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el Contexto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163824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caja para el sistema. Actores a la izquierda, terceros a la derecha en gris.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7772400" cy="987552"/>
          </a:xfrm>
          <a:prstGeom prst="roundRect">
            <a:avLst>
              <a:gd name="adj" fmla="val 740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86784"/>
            <a:ext cx="914400" cy="566928"/>
          </a:xfrm>
          <a:prstGeom prst="roundRect">
            <a:avLst>
              <a:gd name="adj" fmla="val 806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8678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9136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los Contenedores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224528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Abran la caja. Cada elemento con su tecnología; cada flecha con su propósito y protocolo.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77724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047488"/>
            <a:ext cx="914400" cy="566928"/>
          </a:xfrm>
          <a:prstGeom prst="roundRect">
            <a:avLst>
              <a:gd name="adj" fmla="val 8065"/>
            </a:avLst>
          </a:prstGeom>
          <a:solidFill>
            <a:srgbClr val="C97B26"/>
          </a:solidFill>
          <a:ln w="12700">
            <a:solidFill>
              <a:srgbClr val="C97B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0474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97433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entre equipos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528523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equipo debe explicar su diagrama sin que ustedes hablen. Si no puede, falta información.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32520" y="1664208"/>
            <a:ext cx="2816352" cy="4041648"/>
          </a:xfrm>
          <a:prstGeom prst="roundRect">
            <a:avLst>
              <a:gd name="adj" fmla="val 2597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  <a:effectLst>
            <a:outerShdw sx="100000" sy="100000" kx="0" ky="0" algn="bl" rotWithShape="0" blurRad="76200" dist="25400" dir="5400000">
              <a:srgbClr val="9BB0BC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96112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cierre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22860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está listo cuando alguien ajeno al equipo puede explicarlo en voz alta sin hacer preguntas.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4206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Guarden el borrador en clase/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Registren la sesión en clase/notas.md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Anoten las preguntas abiertas para el cliente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errores comunes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Revisen esto antes de entregar el Taller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5F9F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Mezclar niveles en un mismo diagrama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048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y clases juntos en el nivel 2.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nivel de abstracción por diagrama.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755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Flechas sin etiqueta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76288" y="2048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conectadas sin decir para qué.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76288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y protocolo: «consulta agenda · JSON/HTTPS».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5F9F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2369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218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contenedor con capa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5295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«capa de servicios» como contenedor.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877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3858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= algo que se despliega aparte.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12724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32369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3218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sin leyenda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876288" y="35295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y formas que solo el autor entiende.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8770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76288" y="3858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Leyenda visible en todo diagrama.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60857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5F9F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7183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4700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sin decisiones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5010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qué hay, no por qué está así.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3583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5340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decisiones y su justificación.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0" y="460857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47183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4700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Reciclar el ejemplo de internet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5010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el caso de banca de Structurizr.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3583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76288" y="5340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debe salir del cliente real del equipo.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Módulo 4 · Universidad de La Sabana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llevarse del módulo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270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087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siempre existe: </a:t>
            </a:r>
            <a:pPr indent="0" marL="0">
              <a:buNone/>
            </a:pPr>
            <a:r>
              <a:rPr lang="en-US" sz="150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documentarla solo la saca de la cabeza de una persona.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860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vista no es un diagrama: </a:t>
            </a:r>
            <a:pPr indent="0" marL="0">
              <a:buNone/>
            </a:pPr>
            <a:r>
              <a:rPr lang="en-US" sz="150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la audiencia y su preocupación, después el dibujo.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632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4+1 verifica, C4 comunica: </a:t>
            </a:r>
            <a:pPr indent="0" marL="0">
              <a:buNone/>
            </a:pPr>
            <a:r>
              <a:rPr lang="en-US" sz="150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úsenlos juntos, no elijan uno.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04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es un sistema, la AE es el portafolio: </a:t>
            </a:r>
            <a:pPr indent="0" marL="0">
              <a:buNone/>
            </a:pPr>
            <a:r>
              <a:rPr lang="en-US" sz="150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es el límite que se evalúa en la sustentación.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6903720" cy="1417320"/>
          </a:xfrm>
          <a:prstGeom prst="roundRect">
            <a:avLst>
              <a:gd name="adj" fmla="val 5161"/>
            </a:avLst>
          </a:prstGeom>
          <a:solidFill>
            <a:srgbClr val="1B3A63"/>
          </a:solidFill>
          <a:ln w="12700">
            <a:solidFill>
              <a:srgbClr val="1B3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0474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376672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3 · Arquitectura actual del sistema con el Modelo C4. Enunciado, guía paso a paso, plantillas y rúbrica en el repositorio del curso. Entrega en dos semanas.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463040"/>
            <a:ext cx="3547872" cy="4846320"/>
          </a:xfrm>
          <a:prstGeom prst="roundRect">
            <a:avLst>
              <a:gd name="adj" fmla="val 2062"/>
            </a:avLst>
          </a:prstGeom>
          <a:solidFill>
            <a:srgbClr val="17324F"/>
          </a:solidFill>
          <a:ln w="12700">
            <a:solidFill>
              <a:srgbClr val="1732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profundizar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10312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Kruchten, P. (1995). Architectural Blueprints — The 4+1 View Model of Software Architecture. IEEE Software, 12(6).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Brown, S. The C4 Model for Visualising Software Architecture — c4model.com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Structurizr Lite — structurizr.com/help/lite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Taller 3: github.com/CesarAVegaF312/AREM-Taller_3_Arquitectura_C4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5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42010 — descripción de arquitectura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AREM · Universidad de La Sabana · Ing. César Augusto Vega Fernández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4 - Documentar la arquitectura de software</dc:title>
  <dc:subject>PptxGenJS Presentation</dc:subject>
  <dc:creator>César Augusto Vega Fernández</dc:creator>
  <cp:lastModifiedBy>César Augusto Vega Fernández</cp:lastModifiedBy>
  <cp:revision>1</cp:revision>
  <dcterms:created xsi:type="dcterms:W3CDTF">2026-08-29T00:27:53Z</dcterms:created>
  <dcterms:modified xsi:type="dcterms:W3CDTF">2026-08-29T00:27:53Z</dcterms:modified>
</cp:coreProperties>
</file>