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41732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1D4A6B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33688" y="1874520"/>
            <a:ext cx="2432304" cy="3108960"/>
          </a:xfrm>
          <a:prstGeom prst="roundRect">
            <a:avLst>
              <a:gd name="adj" fmla="val 2256"/>
            </a:avLst>
          </a:prstGeom>
          <a:solidFill>
            <a:srgbClr val="245F78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7736" y="2331720"/>
            <a:ext cx="1664208" cy="2194560"/>
          </a:xfrm>
          <a:prstGeom prst="roundRect">
            <a:avLst>
              <a:gd name="adj" fmla="val 3297"/>
            </a:avLst>
          </a:prstGeom>
          <a:solidFill>
            <a:srgbClr val="2C7A85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1784" y="2788920"/>
            <a:ext cx="896112" cy="1280160"/>
          </a:xfrm>
          <a:prstGeom prst="roundRect">
            <a:avLst>
              <a:gd name="adj" fmla="val 6122"/>
            </a:avLst>
          </a:prstGeom>
          <a:solidFill>
            <a:srgbClr val="0E7C7B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33688" y="19659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17736" y="24231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701784" y="28803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· AREM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la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software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·  Vista 4+1 y Modelo C4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70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 del curso: Fundación Salud Viva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César Augusto Vega Fernández  ·  Facultad de Ingeniería  ·  Universidad de La Sabana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módulo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cada equipo debe poder documentar el sistema de su cliente en dos niveles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81912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7393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733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65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una arquitectura sin documentar le cuesta dinero y tiempo a la organización.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852928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523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con 4+1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449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cinco vistas de Kruchten y qué pregunta responde cada una.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31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con C4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23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diagramas de Contexto y Contenedores de un sistema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18888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010912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10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2029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enfoque adecuado según la audiencia y el momento del proyecto.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1581912"/>
            <a:ext cx="3520440" cy="4315968"/>
          </a:xfrm>
          <a:prstGeom prst="roundRect">
            <a:avLst>
              <a:gd name="adj" fmla="val 2078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Taller 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28600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del equipo: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c1-contexto-final.drawio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c2-contenedores-final.drawio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informe.md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decisiones.md · mínimo 3 decisiones, glosario y supuestos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referencias.md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no documentar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real de la Fundación Salud Viva antes de intervenir su arquitectura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Fundación Salud Viva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consulta externa y laboratorio. Su sistema creció durante ocho años a punta de urgencias: primero el agendamiento, luego la historia clínica, después la facturación a EPS. Nadie dibujó nunca cómo se conecta todo.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sabe cómo funciona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con la 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para que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nuevo sea útil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actualizados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momento de la auditoría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BF3E7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pasó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834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migrar el servidor de base de datos, nadie sabía que el módulo de facturación leía directamente de la tabla de citas sin pasar por la API. La facturación a EPS estuvo caída once días. La arquitectura existía: simplemente vivía en la cabeza de una sola persona.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sirve documentar la arquitectura?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usos concretos, no cuatro razones abstractas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común entre el médico que pide, el analista que traduce y el desarrollador que construye.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explicarle al jefe de laboratorio por qué sus resultados tardan.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96596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gente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nuevo entiende el sistema en un día, no en dos meses.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reducir las 7 semanas de inducción a 1.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599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impacto de un cambio antes de hacerlo, no después.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¿qué se rompe si cambiamos la base de datos?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420624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599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ante auditoría dónde viven y por dónde circulan los datos sensibles.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Ley 1581 sobre historia clínica.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vista no es un diagrama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más común del módulo, y la que más puntos cuesta en la sustentación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perspectiva del sistema pensada para una audiencia y una preocupación específica.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«¿Cómo se despliega el sistema?»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39512" cy="1828800"/>
          </a:xfrm>
          <a:prstGeom prst="roundRect">
            <a:avLst>
              <a:gd name="adj" fmla="val 40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artefacto concreto que representa esa vista. Una vista puede necesitar varios.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«Diagrama de despliegue de los 3 servidores»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Salud Viva — la Vista Física necesita tres diagramas distintos: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sede principal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las 2 sedes satélite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VPN con el laboratorio externo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3492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para la entrega:  </a:t>
            </a:r>
            <a:pPr indent="0" marL="0"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decidan a quién le van a hablar y qué le preocupa. El diagrama sale de ahí, nunca al revés.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4+1: cuatro vistas y un pegamento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Kruchten, 1995 — cada vista responde a un interesado distinto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91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Lógica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58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62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 / analista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1691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6384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Desarrollo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258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organizado el código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862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977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18872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comporta en ejecución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 / rendimiento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3977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6384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Física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/ operación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697480"/>
            <a:ext cx="242316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9204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456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794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que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atraviesan y validan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otras cuatro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26280" y="2542032"/>
            <a:ext cx="502920" cy="475488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178040" y="2542032"/>
            <a:ext cx="502920" cy="475488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4526280" y="4343400"/>
            <a:ext cx="502920" cy="484632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4343400"/>
            <a:ext cx="502920" cy="484632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real de 4+1: cada interesado encuentra su vista y no tiene que leer las otras cuatro.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4+1 aplicada a la Fundación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caso que modelamos en el Módulo 3, ahora visto desde la arquitectura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5727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572768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concreto en Salud Viva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12264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1226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96596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entidades y reglas maneja la clínica?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con Paciente, Cita, Orden y Resultado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25496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718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2825496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está organizado el código?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825496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módulos: agenda, HCE, laboratorio, facturación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831336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3133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68503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200 pacientes agendan a la vez?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68503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 del agendamiento en hora pico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44568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90872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69087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54456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corre y cómo se conecta al laboratorio?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54456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despliegue: servidor de sede + VPN al laboratorio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04104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550408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C97B26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55040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5404104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ve una atención de principio a fin?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4041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paciente agenda, se atiende, se ordena un examen y se factura»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Módulo 3: el ERD que ya construyeron es la base de la Vista Lógica. No lo repitan, refínenlo.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C4: un zoom, no cuatro dibujos sueltos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Brown — cada nivel está dentro del anterior, como acercarse en un mapa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0543032" cy="4160520"/>
          </a:xfrm>
          <a:prstGeom prst="roundRect">
            <a:avLst>
              <a:gd name="adj" fmla="val 1758"/>
            </a:avLst>
          </a:prstGeom>
          <a:solidFill>
            <a:srgbClr val="E9F2F4"/>
          </a:solidFill>
          <a:ln w="12700">
            <a:solidFill>
              <a:srgbClr val="E9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Contexto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 su entorno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Todos, incluido el cliente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17320" y="2286000"/>
            <a:ext cx="9354312" cy="2880360"/>
          </a:xfrm>
          <a:prstGeom prst="roundRect">
            <a:avLst>
              <a:gd name="adj" fmla="val 2540"/>
            </a:avLst>
          </a:prstGeom>
          <a:solidFill>
            <a:srgbClr val="D3E6E8"/>
          </a:solidFill>
          <a:ln w="12700">
            <a:solidFill>
              <a:srgbClr val="D3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Contenedores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y bases de datos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y arquitectos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2926080"/>
            <a:ext cx="8165592" cy="1600200"/>
          </a:xfrm>
          <a:prstGeom prst="roundRect">
            <a:avLst>
              <a:gd name="adj" fmla="val 4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2848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Componentes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dentro de un contenedor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3035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del equipo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3566160"/>
            <a:ext cx="6976872" cy="548640"/>
          </a:xfrm>
          <a:prstGeom prst="roundRect">
            <a:avLst>
              <a:gd name="adj" fmla="val 13333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0720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Código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su estructura interna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nunca se dibuja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9436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94360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curso:  </a:t>
            </a:r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niveles 1 y 2 bien hechos ya tienen una documentación útil. El nivel 3 solo para el módulo más crítico del sistema; el nivel 4 no lo pidan nunca.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1 · Diagrama de Contexto —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caja para el sistema; alrededor, quién lo usa y con qué se conecta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que asiste a consulta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2578608"/>
            <a:ext cx="1600200" cy="83210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que atiende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2834640" y="3410712"/>
            <a:ext cx="1600200" cy="36576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93192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administrativo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la clínica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H="1">
            <a:off x="2834640" y="3410712"/>
            <a:ext cx="1600200" cy="905256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269748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80560" y="2697480"/>
            <a:ext cx="29260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Salud Viva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Agendamiento, historia clínica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facturación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219456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52560" y="219456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y recibe facturación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H="1">
            <a:off x="7452360" y="2578608"/>
            <a:ext cx="1554480" cy="832104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306324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52560" y="306324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exámenes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3410712"/>
            <a:ext cx="1554480" cy="36576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393192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052560" y="393192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los copagos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52360" y="3410712"/>
            <a:ext cx="1554480" cy="905256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27248" y="2852928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27248" y="2852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citas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90672" y="3300984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90672" y="3300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atención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27248" y="3730752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27248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agenda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852928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autorización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43800" y="3300984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43800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orden · HL7/FHIR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3730752"/>
            <a:ext cx="1143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0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copago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8920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 (fuera de nuestro alcance)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usan el sistema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54406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544068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nivel 1: una sola caja de color para el sistema propio, terceros en gris y toda flecha con su propósito. Aquí todavía no se habla de tecnología.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2 · Diagrama de Contenedores —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la caja: qué se despliega por separado y con qué tecnología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5727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77640" y="15727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776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/ Auxiliar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651760"/>
            <a:ext cx="7470648" cy="3291840"/>
          </a:xfrm>
          <a:prstGeom prst="roundRect">
            <a:avLst>
              <a:gd name="adj" fmla="val 1667"/>
            </a:avLst>
          </a:prstGeom>
          <a:solidFill>
            <a:srgbClr val="FAFCFC"/>
          </a:solidFill>
          <a:ln w="15875">
            <a:solidFill>
              <a:srgbClr val="A9BFC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2971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2971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7764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Clínica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4206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68880" y="420624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Aplicación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4206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23560" y="420624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Integración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HL7/FHIR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5285232"/>
            <a:ext cx="2011680" cy="548640"/>
          </a:xfrm>
          <a:prstGeom prst="can">
            <a:avLst/>
          </a:prstGeom>
          <a:solidFill>
            <a:srgbClr val="1B3A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51760" y="5285232"/>
            <a:ext cx="2011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Clínica · PostgreSQL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528523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5285232"/>
            <a:ext cx="2377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SMS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706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Salud Viva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2103120"/>
            <a:ext cx="0" cy="82296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83480" y="2103120"/>
            <a:ext cx="0" cy="82296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3822192"/>
            <a:ext cx="914400" cy="338328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4160520" y="3822192"/>
            <a:ext cx="594360" cy="338328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0" y="5010912"/>
            <a:ext cx="0" cy="23774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73752" y="4590288"/>
            <a:ext cx="704088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5010912"/>
            <a:ext cx="0" cy="23774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98448" y="2231136"/>
            <a:ext cx="1426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98448" y="223113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citas · HTTPS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70248" y="2231136"/>
            <a:ext cx="1426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0248" y="223113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atención · HTTPS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3822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agenda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JSON/HTTPS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38039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 HCE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JSON/HTTPS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919472" y="43159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3822192" y="5029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consulta · JDBC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50292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aviso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61120" y="41148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61120" y="50749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61120" y="5074920"/>
            <a:ext cx="2606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· Pasarela de pagos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flipH="1">
            <a:off x="8046720" y="4507992"/>
            <a:ext cx="868680" cy="64008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8046720" y="4681728"/>
            <a:ext cx="868680" cy="777240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247888" y="4206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HL7/FHIR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8266176" y="490118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961120" y="1572768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cuenta como contenedor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208483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se despliega y se ejecuta por separado.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aplicaciones, APIs, bases de datos, colas.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clases, librerías, capas internas.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3 · Componentes — dentro de la API de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dibuja para el contenedor más crítico o más complejo del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627632"/>
            <a:ext cx="7863840" cy="4023360"/>
          </a:xfrm>
          <a:prstGeom prst="roundRect">
            <a:avLst>
              <a:gd name="adj" fmla="val 1364"/>
            </a:avLst>
          </a:prstGeom>
          <a:solidFill>
            <a:srgbClr val="FAFCFC"/>
          </a:solidFill>
          <a:ln w="15875">
            <a:solidFill>
              <a:srgbClr val="A9BFC7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 API de Aplicación (Java / Spring Boot)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148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de Agenda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los endpoints de citas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2148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2148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Disponibilidad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cupos por médico y sede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291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Historia Clínica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y consulta la atención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57800" y="3291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5780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Órdenes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órdenes y recibe resultados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434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Datos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PostgreSQL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57800" y="4434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57800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FHIR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al estándar del laboratorio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578608"/>
            <a:ext cx="1005840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3721608"/>
            <a:ext cx="1005840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3063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206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4206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1480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cupos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429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orden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0358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4178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178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al laboratorio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06840" y="1627632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89720" y="1783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bajar a nivel 3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2121408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contenedor concentra la complejidad del negocio, o cuando varios equipos van a trabajar dentro de él al mismo tiempo.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06840" y="3703320"/>
            <a:ext cx="2542032" cy="1947672"/>
          </a:xfrm>
          <a:prstGeom prst="roundRect">
            <a:avLst>
              <a:gd name="adj" fmla="val 3756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385876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hacerlo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187952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van a dibujar los seis contenedores a nivel de componentes, van a mantener seis diagramas que quedarán desactualizados en un mes.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4 · Código — el nivel que casi nadie dibuja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en el modelo, pero rara vez se justifica mantenerlo a mano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mostraría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del Gestor de Órdenes y sus relaciones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herencia y dependencias internas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en la práctica, un diagrama UML de clases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la Vista Lógica de 4+1 en su nivel más fino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102352" cy="3017520"/>
          </a:xfrm>
          <a:prstGeom prst="roundRect">
            <a:avLst>
              <a:gd name="adj" fmla="val 2424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omite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240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con cada sprint: se desactualiza en días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 ya lo genera automáticamente cuando hace falta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fuera del equipo de desarrollo lo lee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Brown mismo recomienda no dibujarlo salvo excepciones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práctico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44068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a mano lo que cambia despacio (Contexto, Contenedores) y dejen que las herramientas generen lo que cambia rápido (Código). Esa es la regla que hace sostenible cualquier documentación de arquitectura.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4+1 y C4: cuándo usar cada uno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compiten; responden a preguntas distintas y se pueden combinar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60520" y="160020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6052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4+1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160020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perspectivas en paralelo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niveles de zoom anidados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816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y autor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28163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Kruchten, 1995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163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2011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4198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34198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Libre, usualmente UML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4198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Libre, con reglas de estilo claras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grandes con muchos interesados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rápido un sistema a cualquiera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6268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46268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exige manejar UML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6268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Baja: se entiende en una clase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típico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251960" y="5230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cinco diagramas sin audiencia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5230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solo en el nivel 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83387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833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el curso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251960" y="5833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de referencia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5833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del entregable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9893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combinarlos:  </a:t>
            </a:r>
            <a:pPr indent="0" marL="0">
              <a:buNone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C4 para dibujar y 4+1 para verificar que no se les quedó ninguna preocupación sin cubrir (¿y el despliegue? ¿y la concurrencia?).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termina C4 y dónde empieza la AE?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aparece en toda sustentación del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691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actores, servicios de la clínica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6090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66090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Viva, nómina, contabilidad, portal web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301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63016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clínica, facturación, RIPS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99432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45B7A8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994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Tecnología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5994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red, nube, VPN al laboratorio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651760"/>
            <a:ext cx="146304" cy="1956816"/>
          </a:xfrm>
          <a:prstGeom prst="roundRect">
            <a:avLst>
              <a:gd name="adj" fmla="val 31250"/>
            </a:avLst>
          </a:prstGeom>
          <a:solidFill>
            <a:srgbClr val="C97B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C4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sistema, por dentro: sus aplicaciones y sus datos.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691640"/>
            <a:ext cx="146304" cy="3950208"/>
          </a:xfrm>
          <a:prstGeom prst="roundRect">
            <a:avLst>
              <a:gd name="adj" fmla="val 31250"/>
            </a:avLst>
          </a:prstGeom>
          <a:solidFill>
            <a:srgbClr val="1B3A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la AE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0848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sistemas de la clínica y su relación con la estrategia. Se modela con ArchiMate.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58064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frase:  </a:t>
            </a:r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documenta un sistema. La Arquitectura Empresarial documenta el portafolio de sistemas y su alineación con el negocio.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para dibujar C4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 con capa gratuita suficiente para el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web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C4 incorporada en Más formas → Software → C4. Sin instalación.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muy baja  ·  Acogida: muy alta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por defecto del Taller 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Astah UML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académica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aprobada en el enunciado del taller. Útil si ya la usaron en UML.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baja  ·  Acogida: media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para la entrega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Structurizr Lite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Docker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modelo genera los cuatro niveles sin contradicciones entre ellos.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media  ·  Acogida: alta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Opcional, para quien maneje Docker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0684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7143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escritorio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 ArchiMate, no de C4. La usaremos en el Módulo 5.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media-alta  ·  Acogida: media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usen para este entregable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cual sea la herramienta, el entregable se evalúa por la claridad del modelo, no por el acabado gráfico.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en clase · 40 minutos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 de su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5376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922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el entorno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1031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quién usa el sistema (roles, no nombres) y con qué sistemas externos se conecta.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2608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8529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Contexto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16382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caja para el sistema. Actores a la izquierda, terceros a la derecha en gris.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86784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867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9136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los Contenedores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22452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la caja. Cada elemento con su tecnología; cada flecha con su propósito y protocolo.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47488"/>
            <a:ext cx="914400" cy="566928"/>
          </a:xfrm>
          <a:prstGeom prst="roundRect">
            <a:avLst>
              <a:gd name="adj" fmla="val 8065"/>
            </a:avLst>
          </a:prstGeom>
          <a:solidFill>
            <a:srgbClr val="C97B26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0474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9743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entre equipos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28523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equipo debe explicar su diagrama sin que ustedes hablen. Si no puede, falta información.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32520" y="1664208"/>
            <a:ext cx="2816352" cy="4041648"/>
          </a:xfrm>
          <a:prstGeom prst="roundRect">
            <a:avLst>
              <a:gd name="adj" fmla="val 2597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611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cierre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2860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está listo cuando alguien ajeno al equipo puede explicarlo en voz alta sin hacer preguntas.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206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el borrador en clase/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Registren la sesión en clase/notas.md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Anoten las preguntas abiertas para el cliente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errores comunes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esto antes de entregar el Taller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niveles en un mismo diagrama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48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y clases juntos en el nivel 2.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nivel de abstracción por diagrama.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sin etiqueta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048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conectadas sin decir para qué.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protocolo: «consulta agenda · JSON/HTTPS».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contenedor con capa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529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«capa de servicios» como contenedor.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= algo que se despliega aparte.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sin leyenda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3529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y formas que solo el autor entiende.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 visible en todo diagrama.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18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sin decisiones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qué hay, no por qué está así.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358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decisiones y su justificación.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718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Reciclar el ejemplo de internet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caso de banca de Structurizr.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358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76288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debe salir del cliente real del equipo.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llevarse del módulo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siempre existe: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documentarla solo la saca de la cabeza de una persona.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no es un diagrama: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audiencia y su preocupación, después el dibujo.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63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verifica, C4 comunica: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úsenlos juntos, no elijan uno.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0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es un sistema, la AE es el portafolio: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límite que se evalúa en la sustentación.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6903720" cy="1417320"/>
          </a:xfrm>
          <a:prstGeom prst="roundRect">
            <a:avLst>
              <a:gd name="adj" fmla="val 516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047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37667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3 · Arquitectura actual del sistema con el Modelo C4. Enunciado, guía paso a paso, plantillas y rúbrica en el repositorio del curso. Entrega en dos semanas.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463040"/>
            <a:ext cx="3547872" cy="4846320"/>
          </a:xfrm>
          <a:prstGeom prst="roundRect">
            <a:avLst>
              <a:gd name="adj" fmla="val 2062"/>
            </a:avLst>
          </a:prstGeom>
          <a:solidFill>
            <a:srgbClr val="17324F"/>
          </a:solidFill>
          <a:ln w="12700">
            <a:solidFill>
              <a:srgbClr val="17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profundizar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Kruchten, P. (1995). Architectural Blueprints — The 4+1 View Model of Software Architecture. IEEE Software, 12(6).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S. The C4 Model for Visualising Software Architecture — c4model.com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Structurizr Lite — structurizr.com/help/lite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Taller 3: github.com/CesarAVegaF312/AREM-Taller_3_Arquitectura_C4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42010 — descripción de arquitectura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Universidad de La Sabana · Ing. César Augusto Vega Fernández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4 - Documentar la arquitectura de software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2026-08-29T00:27:53Z</dcterms:created>
  <dcterms:modified xsi:type="dcterms:W3CDTF">2026-08-29T00:27:53Z</dcterms:modified>
</cp:coreProperties>
</file>